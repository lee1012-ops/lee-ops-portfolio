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48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DC61FE-B11B-194B-D7D4-6F944E81C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3F4AC59-CE58-D3D5-195D-F139579355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C4C26A-01E8-663D-FD87-2CEC9BB5A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E8D1-2ED6-4E34-9DCB-8F33A513E748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726F84-9EA3-BAFD-F4FD-55015C6BC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325807-5A35-89E7-0F96-BEBEF6C49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25D6-A09D-4B97-94C9-2AB2925AAF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636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31B5B7-49B6-A385-6EB8-B1C07A243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ED784A-E02A-FD29-3A74-61CE06922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A09D6D-512D-CF2D-165A-84AD7F3E9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E8D1-2ED6-4E34-9DCB-8F33A513E748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E1FB86-C5B9-A575-EB5F-79028E8C8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432D38-3118-221D-F169-CC4B65302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25D6-A09D-4B97-94C9-2AB2925AAF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8721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D2104A-F36D-70C7-8FBD-571D36586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8F6E07-E654-FC60-B898-E410D9D87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8AE709-5EA8-8CDD-034C-645A36C1A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E8D1-2ED6-4E34-9DCB-8F33A513E748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5039A3-2417-E4A2-CB98-6C0AB44AC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0FFA31-DF1A-BA64-F81C-49C631FA8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25D6-A09D-4B97-94C9-2AB2925AAF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500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3EFD96-0DEC-5595-6759-24AACF9DA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5EB369-EC0E-17D6-2A04-372A66E950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F1D8D8-1A3E-C385-A184-A3234599A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E00AC5-018C-F154-9747-A27EB119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E8D1-2ED6-4E34-9DCB-8F33A513E748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0F9886-79E4-8022-4C0B-00D593995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608460-935B-3D0B-38F3-819865C81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25D6-A09D-4B97-94C9-2AB2925AAF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61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F0A612-80CE-055F-8262-749BEA350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180E61-33E1-E1CD-F718-90F2E0834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FB0577-7A67-C50B-928D-6CC29F198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6C4E57F-A482-BCA4-E30A-0422DDE7D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04ADBB6-6115-5FAF-4579-D3E3A869CF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716AC03-4D2E-F664-9F1B-385249BB8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E8D1-2ED6-4E34-9DCB-8F33A513E748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2F57ED4-CD44-9E83-79D1-90859F9D0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48B2CC1-69B5-25C4-174C-139B053A4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25D6-A09D-4B97-94C9-2AB2925AAF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752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76FCC4-C0DB-4201-C9C6-63DADB3E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C19F153-43A7-26F3-8DD7-C1D47B6FC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E8D1-2ED6-4E34-9DCB-8F33A513E748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6C44B1-52D1-083D-5C00-5C24ED34C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680F9EB-BD7F-9A6F-44DE-1F1E84E1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25D6-A09D-4B97-94C9-2AB2925AAF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19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A549CC-11CE-2453-736F-E7F678137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E8D1-2ED6-4E34-9DCB-8F33A513E748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1DC97F-7B6E-11CF-206B-2BF352987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4DBC05-4243-05FA-DBDA-F40B1AB93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25D6-A09D-4B97-94C9-2AB2925AAF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574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78263B-8E43-15BA-98B6-E0B0AAA04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B2490F-D365-C78D-8B89-37764858C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6773BE-8F62-CC73-6160-0700A7CEF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7A66E4-310E-6997-FA0C-AFB6A87F6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E8D1-2ED6-4E34-9DCB-8F33A513E748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C84F31-A0F0-167D-8931-F48D0296F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6B9989-7D39-8097-ECCE-DE182ABF8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25D6-A09D-4B97-94C9-2AB2925AAF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8103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82E71E-50C2-62BC-9C47-D303B0F53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D882323-3757-C88B-5659-2F6DDE2E48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700849-BDD8-B3A4-4F7F-675BFC103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3F5605-EB78-BCBB-134C-F8A6F2D92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E8D1-2ED6-4E34-9DCB-8F33A513E748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DA428A-8890-819E-B2BE-87C8E2C39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1D2A7B-1D00-11D2-8DAB-C508A6C35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25D6-A09D-4B97-94C9-2AB2925AAF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705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A43D46-C7BA-619E-B368-3642F9C49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A2C9E2-E552-ABD2-F6C0-B96DAE97E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F48933-9A0E-4348-737C-D53DEC25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E8D1-2ED6-4E34-9DCB-8F33A513E748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E159C-303B-3FFE-C5B1-DE332F5A2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4412A2-286B-3F43-2DBE-8DD00A94D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25D6-A09D-4B97-94C9-2AB2925AAF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644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54691CE-CC54-FF8B-8F20-EB8732072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CD9FD4-220C-0F9C-8B42-04BC45955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231C88-A216-FD24-879C-26D60B30A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E8D1-2ED6-4E34-9DCB-8F33A513E748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590905-163D-24DA-A115-429C34100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B5A380-F91E-3308-15A5-33694B7F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925D6-A09D-4B97-94C9-2AB2925AAF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51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D2535C3-D1D2-D059-66BB-7669C2430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100D35-3768-7B0F-85B6-217FA76D8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423DC4-4B33-28A8-BC1C-8B4D3DB8F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5E8D1-2ED6-4E34-9DCB-8F33A513E748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CC152C-A84F-3717-D187-8CCED490FB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177B12-907D-18D4-F735-5C270A80AD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925D6-A09D-4B97-94C9-2AB2925AAF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15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1469B-629F-10E7-0913-53873E2BA4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1643"/>
            <a:ext cx="9144000" cy="2387600"/>
          </a:xfrm>
        </p:spPr>
        <p:txBody>
          <a:bodyPr/>
          <a:lstStyle/>
          <a:p>
            <a:r>
              <a:rPr lang="zh-CN" altLang="en-US" b="1"/>
              <a:t>实验 </a:t>
            </a:r>
            <a:r>
              <a:rPr lang="en-US" altLang="zh-CN" b="1"/>
              <a:t>7 </a:t>
            </a:r>
            <a:r>
              <a:rPr lang="zh-CN" altLang="en-US" b="1"/>
              <a:t>神经网络语言模型实验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F3CE3DC-835F-FB82-6945-2AA46D6EA1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91318"/>
            <a:ext cx="9144000" cy="1655762"/>
          </a:xfrm>
        </p:spPr>
        <p:txBody>
          <a:bodyPr/>
          <a:lstStyle/>
          <a:p>
            <a:r>
              <a:rPr lang="zh-CN" altLang="en-US"/>
              <a:t>汇报人：李慧</a:t>
            </a:r>
          </a:p>
        </p:txBody>
      </p:sp>
    </p:spTree>
    <p:extLst>
      <p:ext uri="{BB962C8B-B14F-4D97-AF65-F5344CB8AC3E}">
        <p14:creationId xmlns:p14="http://schemas.microsoft.com/office/powerpoint/2010/main" val="2268788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0CABDB4-8AAE-D9A4-FA7B-AC6046459BEB}"/>
              </a:ext>
            </a:extLst>
          </p:cNvPr>
          <p:cNvSpPr txBox="1"/>
          <p:nvPr/>
        </p:nvSpPr>
        <p:spPr>
          <a:xfrm>
            <a:off x="1280160" y="1051807"/>
            <a:ext cx="8067040" cy="1137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掌握循环神经网络的结构，包括 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LSTM 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等。</a:t>
            </a: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掌握使用深度学习框架构建循环神经网络模型的方法。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4973D9-34B3-001C-95A9-8573AE77E008}"/>
              </a:ext>
            </a:extLst>
          </p:cNvPr>
          <p:cNvSpPr txBox="1"/>
          <p:nvPr/>
        </p:nvSpPr>
        <p:spPr>
          <a:xfrm>
            <a:off x="457200" y="257294"/>
            <a:ext cx="1889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实验目的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68E03CD-35BA-A3CE-DB9F-60DC18F21720}"/>
              </a:ext>
            </a:extLst>
          </p:cNvPr>
          <p:cNvSpPr txBox="1"/>
          <p:nvPr/>
        </p:nvSpPr>
        <p:spPr>
          <a:xfrm>
            <a:off x="548640" y="2286507"/>
            <a:ext cx="2021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实验要求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0AFC861-6EA2-7ED3-C8EB-E323888943B1}"/>
              </a:ext>
            </a:extLst>
          </p:cNvPr>
          <p:cNvSpPr txBox="1"/>
          <p:nvPr/>
        </p:nvSpPr>
        <p:spPr>
          <a:xfrm>
            <a:off x="1280160" y="2906615"/>
            <a:ext cx="10739120" cy="3329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42900">
              <a:lnSpc>
                <a:spcPct val="150000"/>
              </a:lnSpc>
              <a:buAutoNum type="arabicPeriod"/>
            </a:pP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使用深度学习框架（本实验指导书以 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TensorFlow 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为例）构建一个规范的 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LSTM 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网络。</a:t>
            </a:r>
            <a:endParaRPr lang="en-US" altLang="zh-CN" sz="24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indent="-342900">
              <a:lnSpc>
                <a:spcPct val="150000"/>
              </a:lnSpc>
              <a:buAutoNum type="arabicPeriod"/>
            </a:pP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在 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PTB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Penn Treebank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）语料库上进行神经网络语言模型的训练和评估，评 价指标困惑度（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Perplexity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PPL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）低于 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80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。 </a:t>
            </a:r>
            <a:endParaRPr lang="en-US" altLang="zh-CN" sz="24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indent="-342900">
              <a:lnSpc>
                <a:spcPct val="150000"/>
              </a:lnSpc>
              <a:buAutoNum type="arabicPeriod"/>
            </a:pP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如果选择做此实验作业，按规定时间在课程网站提交实验报告、代码以及 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PPT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99271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4E881F9-9184-3C56-1EDD-A6D3958B05CC}"/>
              </a:ext>
            </a:extLst>
          </p:cNvPr>
          <p:cNvSpPr txBox="1"/>
          <p:nvPr/>
        </p:nvSpPr>
        <p:spPr>
          <a:xfrm>
            <a:off x="822960" y="953714"/>
            <a:ext cx="8524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定义： 一个为词序列分配概率的模型。</a:t>
            </a: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DE3FD66-0BA3-6B19-E742-345EB48404ED}"/>
              </a:ext>
            </a:extLst>
          </p:cNvPr>
          <p:cNvSpPr txBox="1"/>
          <p:nvPr/>
        </p:nvSpPr>
        <p:spPr>
          <a:xfrm>
            <a:off x="243840" y="220183"/>
            <a:ext cx="9103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latin typeface="Arial" panose="020B0604020202020204" pitchFamily="34" charset="0"/>
                <a:ea typeface="黑体" panose="02010609060101010101" pitchFamily="49" charset="-122"/>
              </a:rPr>
              <a:t>语言模型 </a:t>
            </a:r>
            <a:r>
              <a:rPr lang="en-US" altLang="zh-CN" sz="2800" b="1">
                <a:latin typeface="Arial" panose="020B0604020202020204" pitchFamily="34" charset="0"/>
                <a:ea typeface="黑体" panose="02010609060101010101" pitchFamily="49" charset="-122"/>
              </a:rPr>
              <a:t>(Language Model Principle)</a:t>
            </a:r>
            <a:endParaRPr lang="zh-CN" altLang="en-US" sz="2800" b="1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D95D84C-D955-E5A7-9A23-1EBA49D08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650" y="375404"/>
            <a:ext cx="3120390" cy="1955737"/>
          </a:xfrm>
          <a:prstGeom prst="rect">
            <a:avLst/>
          </a:prstGeom>
        </p:spPr>
      </p:pic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7CA3314-26E7-2E28-ADD5-7141175B5A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9947899"/>
              </p:ext>
            </p:extLst>
          </p:nvPr>
        </p:nvGraphicFramePr>
        <p:xfrm>
          <a:off x="1546860" y="1712016"/>
          <a:ext cx="40513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63560" imgH="253800" progId="Equation.DSMT4">
                  <p:embed/>
                </p:oleObj>
              </mc:Choice>
              <mc:Fallback>
                <p:oleObj name="Equation" r:id="rId3" imgW="16635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6860" y="1712016"/>
                        <a:ext cx="4051300" cy="619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C6B00050-8633-D791-9BDA-5BA11342FC99}"/>
              </a:ext>
            </a:extLst>
          </p:cNvPr>
          <p:cNvSpPr txBox="1"/>
          <p:nvPr/>
        </p:nvSpPr>
        <p:spPr>
          <a:xfrm>
            <a:off x="822960" y="3440556"/>
            <a:ext cx="10292080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分解公式：通过估计给定前缀（上下文）的下一个词的出现概率的乘积。</a:t>
            </a: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应用：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BEABE6AA-157A-47DD-5535-F1D8FBB888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4753906"/>
              </p:ext>
            </p:extLst>
          </p:nvPr>
        </p:nvGraphicFramePr>
        <p:xfrm>
          <a:off x="1546860" y="2541452"/>
          <a:ext cx="10056812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356000" imgH="253800" progId="Equation.DSMT4">
                  <p:embed/>
                </p:oleObj>
              </mc:Choice>
              <mc:Fallback>
                <p:oleObj name="Equation" r:id="rId5" imgW="43560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46860" y="2541452"/>
                        <a:ext cx="10056812" cy="587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F91122B3-0D5D-262C-FC3B-B637DCD36C26}"/>
              </a:ext>
            </a:extLst>
          </p:cNvPr>
          <p:cNvSpPr txBox="1"/>
          <p:nvPr/>
        </p:nvSpPr>
        <p:spPr>
          <a:xfrm>
            <a:off x="1546860" y="4556964"/>
            <a:ext cx="10200640" cy="169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机器翻译：评估译文流畅性。</a:t>
            </a: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语音识别：预测下一个词。文本生成、拼写纠错等。</a:t>
            </a:r>
            <a:endParaRPr lang="en-US" altLang="zh-CN" sz="2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神经网络语言模型 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(NNLM)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： 利用神经网络（如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RNN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）来估计这些条件概率。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872736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什么是长短期记忆(LSTM)？ - MATLAB &amp; Simulink">
            <a:extLst>
              <a:ext uri="{FF2B5EF4-FFF2-40B4-BE49-F238E27FC236}">
                <a16:creationId xmlns:a16="http://schemas.microsoft.com/office/drawing/2014/main" id="{3CC1BE8F-0546-C49D-726B-97B1DAF51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313" y="4693614"/>
            <a:ext cx="2889567" cy="2164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2B5D90A-98A5-A5D6-D7FA-4BE76FD35154}"/>
              </a:ext>
            </a:extLst>
          </p:cNvPr>
          <p:cNvSpPr txBox="1"/>
          <p:nvPr/>
        </p:nvSpPr>
        <p:spPr>
          <a:xfrm>
            <a:off x="345440" y="257294"/>
            <a:ext cx="5283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latin typeface="Arial" panose="020B0604020202020204" pitchFamily="34" charset="0"/>
                <a:ea typeface="黑体" panose="02010609060101010101" pitchFamily="49" charset="-122"/>
              </a:rPr>
              <a:t>循环神经网络 </a:t>
            </a:r>
            <a:r>
              <a:rPr lang="en-US" altLang="zh-CN" sz="2800" b="1">
                <a:latin typeface="Arial" panose="020B0604020202020204" pitchFamily="34" charset="0"/>
                <a:ea typeface="黑体" panose="02010609060101010101" pitchFamily="49" charset="-122"/>
              </a:rPr>
              <a:t>(RNN)</a:t>
            </a:r>
            <a:endParaRPr lang="zh-CN" altLang="en-US" sz="2800" b="1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1B04D83-5B66-BDEE-D5AA-5CAF2B20F3A5}"/>
              </a:ext>
            </a:extLst>
          </p:cNvPr>
          <p:cNvSpPr txBox="1"/>
          <p:nvPr/>
        </p:nvSpPr>
        <p:spPr>
          <a:xfrm>
            <a:off x="833120" y="838074"/>
            <a:ext cx="10891520" cy="1128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>
                <a:latin typeface="Arial" panose="020B0604020202020204" pitchFamily="34" charset="0"/>
                <a:ea typeface="黑体" panose="02010609060101010101" pitchFamily="49" charset="-122"/>
              </a:rPr>
              <a:t>RNN</a:t>
            </a:r>
            <a:r>
              <a:rPr lang="zh-CN" altLang="en-US" sz="2400" b="1">
                <a:latin typeface="Arial" panose="020B0604020202020204" pitchFamily="34" charset="0"/>
                <a:ea typeface="黑体" panose="02010609060101010101" pitchFamily="49" charset="-122"/>
              </a:rPr>
              <a:t>：</a:t>
            </a: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</a:rPr>
              <a:t>处理序列数据，具有“记忆”能力，通过隐藏状态传递信息。</a:t>
            </a:r>
            <a:endParaRPr lang="en-US" altLang="zh-CN" sz="240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</a:rPr>
              <a:t>挑战：长期依赖问题（梯度消失</a:t>
            </a:r>
            <a:r>
              <a:rPr lang="en-US" altLang="zh-CN" sz="2400">
                <a:latin typeface="Arial" panose="020B060402020202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</a:rPr>
              <a:t>爆炸）。</a:t>
            </a:r>
            <a:endParaRPr lang="en-US" altLang="zh-CN" sz="240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C75415-10FF-8B73-5240-F6F46AA804E5}"/>
              </a:ext>
            </a:extLst>
          </p:cNvPr>
          <p:cNvSpPr txBox="1"/>
          <p:nvPr/>
        </p:nvSpPr>
        <p:spPr>
          <a:xfrm>
            <a:off x="833120" y="2845279"/>
            <a:ext cx="10759440" cy="2236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>
                <a:latin typeface="Arial" panose="020B0604020202020204" pitchFamily="34" charset="0"/>
                <a:ea typeface="黑体" panose="02010609060101010101" pitchFamily="49" charset="-122"/>
              </a:rPr>
              <a:t>LSTM (Long Short-Term Memory)</a:t>
            </a:r>
            <a:r>
              <a:rPr lang="zh-CN" altLang="en-US" sz="2400" b="1">
                <a:latin typeface="Arial" panose="020B0604020202020204" pitchFamily="34" charset="0"/>
                <a:ea typeface="黑体" panose="02010609060101010101" pitchFamily="49" charset="-122"/>
              </a:rPr>
              <a:t>：</a:t>
            </a:r>
            <a:r>
              <a:rPr lang="en-US" altLang="zh-CN" sz="2400">
                <a:latin typeface="Arial" panose="020B0604020202020204" pitchFamily="34" charset="0"/>
                <a:ea typeface="黑体" panose="02010609060101010101" pitchFamily="49" charset="-122"/>
              </a:rPr>
              <a:t>RNN</a:t>
            </a: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</a:rPr>
              <a:t>的一种特殊变体，旨在解决长期依赖问题。</a:t>
            </a:r>
            <a:endParaRPr lang="en-US" altLang="zh-CN" sz="240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>
                <a:latin typeface="Arial" panose="020B0604020202020204" pitchFamily="34" charset="0"/>
                <a:ea typeface="黑体" panose="02010609060101010101" pitchFamily="49" charset="-122"/>
              </a:rPr>
              <a:t>核心： </a:t>
            </a: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</a:rPr>
              <a:t>引入“门”机制（遗忘门、输入门、输出门）和“细胞状态 </a:t>
            </a:r>
            <a:r>
              <a:rPr lang="en-US" altLang="zh-CN" sz="2400">
                <a:latin typeface="Arial" panose="020B0604020202020204" pitchFamily="34" charset="0"/>
                <a:ea typeface="黑体" panose="02010609060101010101" pitchFamily="49" charset="-122"/>
              </a:rPr>
              <a:t>(cell state)”</a:t>
            </a: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</a:rPr>
              <a:t>。能够选择性地记忆、遗忘或更新信息，从而有效捕捉长距离依赖关系。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5ACB592-C09A-0890-5F8D-3525235CD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9390" y="1402364"/>
            <a:ext cx="3427730" cy="149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993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BBE39F0-0DD4-4E3C-AF97-DB96BC84A1D7}"/>
              </a:ext>
            </a:extLst>
          </p:cNvPr>
          <p:cNvSpPr txBox="1"/>
          <p:nvPr/>
        </p:nvSpPr>
        <p:spPr>
          <a:xfrm>
            <a:off x="548640" y="20649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latin typeface="Arial" panose="020B0604020202020204" pitchFamily="34" charset="0"/>
                <a:ea typeface="黑体" panose="02010609060101010101" pitchFamily="49" charset="-122"/>
              </a:rPr>
              <a:t>困惑度 </a:t>
            </a:r>
            <a:r>
              <a:rPr lang="en-US" altLang="zh-CN" sz="2800" b="1">
                <a:latin typeface="Arial" panose="020B0604020202020204" pitchFamily="34" charset="0"/>
                <a:ea typeface="黑体" panose="02010609060101010101" pitchFamily="49" charset="-122"/>
              </a:rPr>
              <a:t>(Perplexity, PPL)</a:t>
            </a:r>
            <a:endParaRPr lang="zh-CN" altLang="en-US" sz="2800" b="1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EF4A83C-5441-3A6B-EEC0-611F8DF5E8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4999672"/>
              </p:ext>
            </p:extLst>
          </p:nvPr>
        </p:nvGraphicFramePr>
        <p:xfrm>
          <a:off x="2082483" y="1823552"/>
          <a:ext cx="7579677" cy="550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95560" imgH="254100" progId="Equation.DSMT4">
                  <p:embed/>
                </p:oleObj>
              </mc:Choice>
              <mc:Fallback>
                <p:oleObj name="Equation" r:id="rId2" imgW="3495560" imgH="2541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82483" y="1823552"/>
                        <a:ext cx="7579677" cy="5507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52F1CF9D-F739-69FF-4236-62D4BA525EA7}"/>
              </a:ext>
            </a:extLst>
          </p:cNvPr>
          <p:cNvSpPr txBox="1"/>
          <p:nvPr/>
        </p:nvSpPr>
        <p:spPr>
          <a:xfrm>
            <a:off x="873760" y="992555"/>
            <a:ext cx="11054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>
                <a:latin typeface="Arial" panose="020B0604020202020204" pitchFamily="34" charset="0"/>
                <a:ea typeface="黑体" panose="02010609060101010101" pitchFamily="49" charset="-122"/>
              </a:rPr>
              <a:t>定义： </a:t>
            </a: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</a:rPr>
              <a:t>语言模型评估的常用指标，衡量模型预测不确定性或模型对测试数据拟合程度的好坏。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A235B9A-76F9-D57A-02C6-ED8C97C20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556" y="3365413"/>
            <a:ext cx="11126764" cy="2236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lang="zh-CN" altLang="zh-CN" sz="2400">
                <a:latin typeface="Arial" panose="020B0604020202020204" pitchFamily="34" charset="0"/>
                <a:ea typeface="黑体" panose="02010609060101010101" pitchFamily="49" charset="-122"/>
              </a:rPr>
              <a:t>H(P,Q) 是交叉熵。 </a:t>
            </a:r>
          </a:p>
          <a:p>
            <a:pPr marL="342900" marR="0" lvl="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lang="zh-CN" altLang="zh-CN" sz="2400">
                <a:latin typeface="Arial" panose="020B0604020202020204" pitchFamily="34" charset="0"/>
                <a:ea typeface="黑体" panose="02010609060101010101" pitchFamily="49" charset="-122"/>
              </a:rPr>
              <a:t>N 是测试集中总的词数。 </a:t>
            </a:r>
          </a:p>
          <a:p>
            <a:pPr marL="342900" marR="0" lvl="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lang="zh-CN" altLang="zh-CN" sz="2400">
                <a:latin typeface="Arial" panose="020B0604020202020204" pitchFamily="34" charset="0"/>
                <a:ea typeface="黑体" panose="02010609060101010101" pitchFamily="49" charset="-122"/>
              </a:rPr>
              <a:t>P(wi​∣w&lt;i​) 是模型预测下一个词的概率。 </a:t>
            </a:r>
          </a:p>
          <a:p>
            <a:pPr marR="0" lv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sz="2400">
                <a:latin typeface="Arial" panose="020B0604020202020204" pitchFamily="34" charset="0"/>
                <a:ea typeface="黑体" panose="02010609060101010101" pitchFamily="49" charset="-122"/>
              </a:rPr>
              <a:t>含义： 困惑度越低，说明模型对下一个词的预测能力越强，语言模型性能越佳。 </a:t>
            </a:r>
          </a:p>
        </p:txBody>
      </p:sp>
    </p:spTree>
    <p:extLst>
      <p:ext uri="{BB962C8B-B14F-4D97-AF65-F5344CB8AC3E}">
        <p14:creationId xmlns:p14="http://schemas.microsoft.com/office/powerpoint/2010/main" val="2665187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928D10C-FAF5-76C8-21D4-4849CB0427F7}"/>
              </a:ext>
            </a:extLst>
          </p:cNvPr>
          <p:cNvSpPr txBox="1"/>
          <p:nvPr/>
        </p:nvSpPr>
        <p:spPr>
          <a:xfrm>
            <a:off x="213360" y="26164"/>
            <a:ext cx="4084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latin typeface="Arial" panose="020B0604020202020204" pitchFamily="34" charset="0"/>
                <a:ea typeface="黑体" panose="02010609060101010101" pitchFamily="49" charset="-122"/>
              </a:rPr>
              <a:t>实验环境与数据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9530450-60C7-9B2C-E0C4-5C4900DDB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205" y="724099"/>
            <a:ext cx="56091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27000" eaLnBrk="0" fontAlgn="base" hangingPunct="0">
              <a:spcBef>
                <a:spcPct val="0"/>
              </a:spcBef>
              <a:spcAft>
                <a:spcPct val="0"/>
              </a:spcAft>
              <a:tabLst>
                <a:tab pos="19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9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9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9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9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9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9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9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984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198438" algn="l"/>
              </a:tabLst>
            </a:pPr>
            <a:r>
              <a:rPr lang="zh-CN" altLang="zh-CN" sz="2400">
                <a:ea typeface="黑体" panose="02010609060101010101" pitchFamily="49" charset="-122"/>
              </a:rPr>
              <a:t>硬件配置：</a:t>
            </a:r>
            <a:r>
              <a:rPr lang="en-US" altLang="zh-CN" sz="2400">
                <a:ea typeface="黑体" panose="02010609060101010101" pitchFamily="49" charset="-122"/>
              </a:rPr>
              <a:t>NVIDIA GeForce RTX 4090</a:t>
            </a:r>
          </a:p>
          <a:p>
            <a:pPr marL="0" marR="0" lvl="0" indent="1270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198438" algn="l"/>
              </a:tabLst>
            </a:pPr>
            <a:r>
              <a:rPr lang="zh-CN" altLang="en-US" sz="2400">
                <a:ea typeface="黑体" panose="02010609060101010101" pitchFamily="49" charset="-122"/>
              </a:rPr>
              <a:t>环境配置：</a:t>
            </a:r>
          </a:p>
          <a:p>
            <a:pPr marL="0" marR="0" lvl="0" indent="1270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98438" algn="l"/>
              </a:tabLst>
            </a:pPr>
            <a:r>
              <a:rPr lang="zh-CN" altLang="en-US" sz="2400">
                <a:ea typeface="黑体" panose="02010609060101010101" pitchFamily="49" charset="-122"/>
              </a:rPr>
              <a:t>	</a:t>
            </a:r>
            <a:r>
              <a:rPr lang="en-US" altLang="zh-CN" sz="2400">
                <a:ea typeface="黑体" panose="02010609060101010101" pitchFamily="49" charset="-122"/>
              </a:rPr>
              <a:t>tensorflow==2.15.0</a:t>
            </a:r>
          </a:p>
          <a:p>
            <a:pPr marL="0" marR="0" lvl="0" indent="1270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98438" algn="l"/>
              </a:tabLst>
            </a:pPr>
            <a:r>
              <a:rPr lang="en-US" altLang="zh-CN" sz="2400">
                <a:ea typeface="黑体" panose="02010609060101010101" pitchFamily="49" charset="-122"/>
              </a:rPr>
              <a:t>	numpy==2.2.6</a:t>
            </a:r>
          </a:p>
          <a:p>
            <a:pPr marL="0" marR="0" lvl="0" indent="1270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98438" algn="l"/>
              </a:tabLst>
            </a:pP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4B72B36-98A8-7286-EFA9-3A0676A91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913" y="63350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" name="图片 1">
            <a:extLst>
              <a:ext uri="{FF2B5EF4-FFF2-40B4-BE49-F238E27FC236}">
                <a16:creationId xmlns:a16="http://schemas.microsoft.com/office/drawing/2014/main" id="{26FED640-D9F4-2610-19E9-AF19017B8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8645" y="3171388"/>
            <a:ext cx="5273675" cy="339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5891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5C2E97C-89E4-DF42-01D9-B49176740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4160" y="840661"/>
            <a:ext cx="999744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400">
                <a:latin typeface="Arial" panose="020B0604020202020204" pitchFamily="34" charset="0"/>
                <a:ea typeface="黑体" panose="02010609060101010101" pitchFamily="49" charset="-122"/>
              </a:rPr>
              <a:t>来源与特点： 经典、干净、规模适中，广泛用于语言模型基准测试。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400">
                <a:latin typeface="Arial" panose="020B0604020202020204" pitchFamily="34" charset="0"/>
                <a:ea typeface="黑体" panose="02010609060101010101" pitchFamily="49" charset="-122"/>
              </a:rPr>
              <a:t>组成： 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400">
                <a:latin typeface="Arial" panose="020B0604020202020204" pitchFamily="34" charset="0"/>
                <a:ea typeface="黑体" panose="02010609060101010101" pitchFamily="49" charset="-122"/>
              </a:rPr>
              <a:t>ptb.train.txt (训练集) 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400">
                <a:latin typeface="Arial" panose="020B0604020202020204" pitchFamily="34" charset="0"/>
                <a:ea typeface="黑体" panose="02010609060101010101" pitchFamily="49" charset="-122"/>
              </a:rPr>
              <a:t>ptb.valid.txt (验证集) 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400">
                <a:latin typeface="Arial" panose="020B0604020202020204" pitchFamily="34" charset="0"/>
                <a:ea typeface="黑体" panose="02010609060101010101" pitchFamily="49" charset="-122"/>
              </a:rPr>
              <a:t>ptb.test.txt (测试集)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400">
                <a:latin typeface="Arial" panose="020B0604020202020204" pitchFamily="34" charset="0"/>
                <a:ea typeface="黑体" panose="02010609060101010101" pitchFamily="49" charset="-122"/>
              </a:rPr>
              <a:t>词汇表大小： 约10,000词 (含特殊标记)。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0F2EAC1-2642-D402-DFF0-82F304037A6C}"/>
              </a:ext>
            </a:extLst>
          </p:cNvPr>
          <p:cNvSpPr txBox="1"/>
          <p:nvPr/>
        </p:nvSpPr>
        <p:spPr>
          <a:xfrm>
            <a:off x="325120" y="165854"/>
            <a:ext cx="751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2800" b="1">
                <a:latin typeface="Arial" panose="020B0604020202020204" pitchFamily="34" charset="0"/>
                <a:ea typeface="黑体" panose="02010609060101010101" pitchFamily="49" charset="-122"/>
              </a:rPr>
              <a:t>数据集：Penn Treebank (PTB) 语料库 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317B493-1DAB-1E5C-496D-F26B99BCD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469" y="4533980"/>
            <a:ext cx="6535062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710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9AAC902-11E3-2CC3-EFA3-079D58CB1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521" y="1124804"/>
            <a:ext cx="10789919" cy="4452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>
                <a:latin typeface="Arial" panose="020B0604020202020204" pitchFamily="34" charset="0"/>
                <a:ea typeface="黑体" panose="02010609060101010101" pitchFamily="49" charset="-122"/>
              </a:rPr>
              <a:t>嵌入层 (Embedding Layer)： 将离散的词汇ID转换为密集、连续的词向量（维度通常为 hidden_size，如650）。 </a:t>
            </a:r>
          </a:p>
          <a:p>
            <a:pPr marL="28575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>
                <a:latin typeface="Arial" panose="020B0604020202020204" pitchFamily="34" charset="0"/>
                <a:ea typeface="黑体" panose="02010609060101010101" pitchFamily="49" charset="-122"/>
              </a:rPr>
              <a:t>输入Dropout层： 对词向量应用Dropout（</a:t>
            </a:r>
          </a:p>
          <a:p>
            <a:pPr marL="28575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>
                <a:latin typeface="Arial" panose="020B0604020202020204" pitchFamily="34" charset="0"/>
                <a:ea typeface="黑体" panose="02010609060101010101" pitchFamily="49" charset="-122"/>
              </a:rPr>
              <a:t>多层LSTM (Stacked LSTM Layers)： 包含多层（如2层）LSTM单元，每层处理序列信息并传递隐藏状态。LSTM特有的门控机制使其能够有效捕捉文本中的长期依赖关系。 </a:t>
            </a:r>
          </a:p>
          <a:p>
            <a:pPr marL="28575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>
                <a:latin typeface="Arial" panose="020B0604020202020204" pitchFamily="34" charset="0"/>
                <a:ea typeface="黑体" panose="02010609060101010101" pitchFamily="49" charset="-122"/>
              </a:rPr>
              <a:t>输出全连接层 (Dense Layer)： 将LSTM的输出映射到词汇表大小的维度，生成下一个词的Logits（未归一化概率）。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0FD548C-EC86-28D9-F501-BDC61B6DFD5C}"/>
              </a:ext>
            </a:extLst>
          </p:cNvPr>
          <p:cNvSpPr txBox="1"/>
          <p:nvPr/>
        </p:nvSpPr>
        <p:spPr>
          <a:xfrm>
            <a:off x="325121" y="223990"/>
            <a:ext cx="16967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latin typeface="Arial" panose="020B0604020202020204" pitchFamily="34" charset="0"/>
                <a:ea typeface="黑体" panose="02010609060101010101" pitchFamily="49" charset="-122"/>
              </a:rPr>
              <a:t>模型架构</a:t>
            </a:r>
          </a:p>
        </p:txBody>
      </p:sp>
    </p:spTree>
    <p:extLst>
      <p:ext uri="{BB962C8B-B14F-4D97-AF65-F5344CB8AC3E}">
        <p14:creationId xmlns:p14="http://schemas.microsoft.com/office/powerpoint/2010/main" val="3829084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4954EBA-3C70-6FB0-4B1F-EC58AD05F311}"/>
              </a:ext>
            </a:extLst>
          </p:cNvPr>
          <p:cNvSpPr txBox="1"/>
          <p:nvPr/>
        </p:nvSpPr>
        <p:spPr>
          <a:xfrm>
            <a:off x="345441" y="132550"/>
            <a:ext cx="18287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latin typeface="Arial" panose="020B0604020202020204" pitchFamily="34" charset="0"/>
                <a:ea typeface="黑体" panose="02010609060101010101" pitchFamily="49" charset="-122"/>
              </a:rPr>
              <a:t>结果讨论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78A779-CB9B-4546-EE2C-CDBE9EAACEC1}"/>
              </a:ext>
            </a:extLst>
          </p:cNvPr>
          <p:cNvSpPr txBox="1"/>
          <p:nvPr/>
        </p:nvSpPr>
        <p:spPr>
          <a:xfrm>
            <a:off x="5262880" y="5692968"/>
            <a:ext cx="2733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latin typeface="Arial" panose="020B0604020202020204" pitchFamily="34" charset="0"/>
                <a:ea typeface="黑体" panose="02010609060101010101" pitchFamily="49" charset="-122"/>
              </a:rPr>
              <a:t>困惑度曲线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9543F79-53E3-F268-73A2-88C421443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942" y="1118865"/>
            <a:ext cx="7640116" cy="4620270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3F74F8D-56A6-13F2-F70E-1E5014AFBF68}"/>
              </a:ext>
            </a:extLst>
          </p:cNvPr>
          <p:cNvCxnSpPr/>
          <p:nvPr/>
        </p:nvCxnSpPr>
        <p:spPr>
          <a:xfrm>
            <a:off x="2174240" y="5130800"/>
            <a:ext cx="7244080" cy="0"/>
          </a:xfrm>
          <a:prstGeom prst="line">
            <a:avLst/>
          </a:prstGeom>
          <a:ln w="285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5BDB443-9E60-6061-E4FD-9E061E1B974F}"/>
              </a:ext>
            </a:extLst>
          </p:cNvPr>
          <p:cNvSpPr txBox="1"/>
          <p:nvPr/>
        </p:nvSpPr>
        <p:spPr>
          <a:xfrm>
            <a:off x="1127760" y="4946134"/>
            <a:ext cx="130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79.992</a:t>
            </a:r>
            <a:endParaRPr lang="zh-CN" altLang="en-US" b="1"/>
          </a:p>
        </p:txBody>
      </p:sp>
    </p:spTree>
    <p:extLst>
      <p:ext uri="{BB962C8B-B14F-4D97-AF65-F5344CB8AC3E}">
        <p14:creationId xmlns:p14="http://schemas.microsoft.com/office/powerpoint/2010/main" val="953925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98C6DC1-C8FC-C483-DED5-C86E70B715F9}"/>
              </a:ext>
            </a:extLst>
          </p:cNvPr>
          <p:cNvSpPr txBox="1"/>
          <p:nvPr/>
        </p:nvSpPr>
        <p:spPr>
          <a:xfrm>
            <a:off x="345441" y="132550"/>
            <a:ext cx="22555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latin typeface="Arial" panose="020B0604020202020204" pitchFamily="34" charset="0"/>
                <a:ea typeface="黑体" panose="02010609060101010101" pitchFamily="49" charset="-122"/>
              </a:rPr>
              <a:t>总结与展望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27A0F8D-5325-A5F5-9B75-3627B5D2E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960" y="1465501"/>
            <a:ext cx="1003808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sz="2400" b="1">
                <a:latin typeface="Arial" panose="020B0604020202020204" pitchFamily="34" charset="0"/>
                <a:ea typeface="黑体" panose="02010609060101010101" pitchFamily="49" charset="-122"/>
              </a:rPr>
              <a:t>目标达成： </a:t>
            </a:r>
            <a:r>
              <a:rPr lang="zh-CN" altLang="zh-CN" sz="2400">
                <a:latin typeface="Arial" panose="020B0604020202020204" pitchFamily="34" charset="0"/>
                <a:ea typeface="黑体" panose="02010609060101010101" pitchFamily="49" charset="-122"/>
              </a:rPr>
              <a:t>成功构建并训练了基于LSTM的神经网络语言模型，在PTB测试集上取得了 80 的困惑度，完美达成了实验指导书设定的目标。 </a:t>
            </a:r>
          </a:p>
          <a:p>
            <a:pPr marR="0" lv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sz="2400" b="1">
                <a:latin typeface="Arial" panose="020B0604020202020204" pitchFamily="34" charset="0"/>
                <a:ea typeface="黑体" panose="02010609060101010101" pitchFamily="49" charset="-122"/>
              </a:rPr>
              <a:t>技术掌握： </a:t>
            </a:r>
            <a:r>
              <a:rPr lang="zh-CN" altLang="zh-CN" sz="2400">
                <a:latin typeface="Arial" panose="020B0604020202020204" pitchFamily="34" charset="0"/>
                <a:ea typeface="黑体" panose="02010609060101010101" pitchFamily="49" charset="-122"/>
              </a:rPr>
              <a:t>深入理解了LSTM原理，掌握了TensorFlow 2.x框架下高效数据管道、模型构建、学习率衰减及梯度裁剪等关键技术。 </a:t>
            </a:r>
          </a:p>
          <a:p>
            <a:pPr marR="0" lv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sz="2400" b="1">
                <a:latin typeface="Arial" panose="020B0604020202020204" pitchFamily="34" charset="0"/>
                <a:ea typeface="黑体" panose="02010609060101010101" pitchFamily="49" charset="-122"/>
              </a:rPr>
              <a:t>性能验证： </a:t>
            </a:r>
            <a:r>
              <a:rPr lang="zh-CN" altLang="zh-CN" sz="2400">
                <a:latin typeface="Arial" panose="020B0604020202020204" pitchFamily="34" charset="0"/>
                <a:ea typeface="黑体" panose="02010609060101010101" pitchFamily="49" charset="-122"/>
              </a:rPr>
              <a:t>验证了LSTM在序列建模任务中的强大能力，并直观展现了训练数据量对模型性能的显著影响。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693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695</Words>
  <Application>Microsoft Office PowerPoint</Application>
  <PresentationFormat>宽屏</PresentationFormat>
  <Paragraphs>51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等线</vt:lpstr>
      <vt:lpstr>等线 Light</vt:lpstr>
      <vt:lpstr>黑体</vt:lpstr>
      <vt:lpstr>Arial</vt:lpstr>
      <vt:lpstr>Wingdings</vt:lpstr>
      <vt:lpstr>Office 主题​​</vt:lpstr>
      <vt:lpstr>MathType 7.0 Equation</vt:lpstr>
      <vt:lpstr>实验 7 神经网络语言模型实验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 hui</dc:creator>
  <cp:lastModifiedBy>li hui</cp:lastModifiedBy>
  <cp:revision>6</cp:revision>
  <dcterms:created xsi:type="dcterms:W3CDTF">2025-06-20T09:01:13Z</dcterms:created>
  <dcterms:modified xsi:type="dcterms:W3CDTF">2025-06-20T10:59:32Z</dcterms:modified>
</cp:coreProperties>
</file>